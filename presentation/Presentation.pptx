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2962A9C-4354-49D6-B8CA-F19991194C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05E160-ED90-4771-9471-EA435FD74B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E6AE8C-E942-445F-BC2D-338D85372C8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A7137A-08D6-4B34-BB51-BAF31642F1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2A802A-9661-4D73-8775-3E60131C20B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30DEC7C-3E15-40C8-90E7-46097B2751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322CD6-07FC-4CE7-BB28-7755EC2DA0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2CF833-F1D3-48BF-80BD-BA9ADB1A5F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E0E77CA-AEE1-4FB3-927C-01542B0E85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569EC13-4BBD-41D7-814A-3676F19ECE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47799C-A444-467B-93A0-343D220BED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36D3EB"/>
          </a:solidFill>
          <a:ln>
            <a:solidFill>
              <a:srgbClr val="36D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640080" y="658440"/>
            <a:ext cx="72720" cy="5120280"/>
          </a:xfrm>
          <a:prstGeom prst="rect">
            <a:avLst/>
          </a:prstGeom>
          <a:solidFill>
            <a:srgbClr val="36D3EB"/>
          </a:solidFill>
          <a:ln>
            <a:solidFill>
              <a:srgbClr val="36D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4"/>
          <p:cNvSpPr/>
          <p:nvPr/>
        </p:nvSpPr>
        <p:spPr>
          <a:xfrm>
            <a:off x="960120" y="804600"/>
            <a:ext cx="713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IBM BoB AI INNOVATION HACKATHON 2026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5"/>
          <p:cNvSpPr/>
          <p:nvPr/>
        </p:nvSpPr>
        <p:spPr>
          <a:xfrm>
            <a:off x="932760" y="1508760"/>
            <a:ext cx="7863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PharmaGuard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6"/>
          <p:cNvSpPr/>
          <p:nvPr/>
        </p:nvSpPr>
        <p:spPr>
          <a:xfrm>
            <a:off x="4800600" y="1508760"/>
            <a:ext cx="1279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AI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7"/>
          <p:cNvSpPr/>
          <p:nvPr/>
        </p:nvSpPr>
        <p:spPr>
          <a:xfrm>
            <a:off x="960120" y="2395800"/>
            <a:ext cx="81378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20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Drug Safety Signal Detection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&amp; Regulatory Submission Readiness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 8"/>
          <p:cNvSpPr/>
          <p:nvPr/>
        </p:nvSpPr>
        <p:spPr>
          <a:xfrm>
            <a:off x="8183880" y="2971800"/>
            <a:ext cx="2880000" cy="1737000"/>
          </a:xfrm>
          <a:prstGeom prst="rect">
            <a:avLst/>
          </a:prstGeom>
          <a:solidFill>
            <a:srgbClr val="1D304C"/>
          </a:solidFill>
          <a:ln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9"/>
          <p:cNvSpPr/>
          <p:nvPr/>
        </p:nvSpPr>
        <p:spPr>
          <a:xfrm>
            <a:off x="8458200" y="3273480"/>
            <a:ext cx="2331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SAFETY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8458200" y="359352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+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1"/>
          <p:cNvSpPr/>
          <p:nvPr/>
        </p:nvSpPr>
        <p:spPr>
          <a:xfrm>
            <a:off x="8458200" y="3977640"/>
            <a:ext cx="2331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DC9A7"/>
                </a:solidFill>
                <a:effectLst/>
                <a:uFillTx/>
                <a:latin typeface="Aptos"/>
              </a:rPr>
              <a:t>REGULATORY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2"/>
          <p:cNvSpPr/>
          <p:nvPr/>
        </p:nvSpPr>
        <p:spPr>
          <a:xfrm>
            <a:off x="960120" y="4069080"/>
            <a:ext cx="3017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Team PharmaNex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3"/>
          <p:cNvSpPr/>
          <p:nvPr/>
        </p:nvSpPr>
        <p:spPr>
          <a:xfrm>
            <a:off x="960120" y="4526280"/>
            <a:ext cx="4937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Ansh Patel  •  Saiyam Purabiya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4"/>
          <p:cNvSpPr/>
          <p:nvPr/>
        </p:nvSpPr>
        <p:spPr>
          <a:xfrm>
            <a:off x="960120" y="4827960"/>
            <a:ext cx="4937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Prince Patel  •  Devansh Patel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5"/>
          <p:cNvSpPr/>
          <p:nvPr/>
        </p:nvSpPr>
        <p:spPr>
          <a:xfrm>
            <a:off x="960120" y="5532120"/>
            <a:ext cx="7680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AI-assisted pharmaceutical intelligence for faster, more structured expert review.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36D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5"/>
          <p:cNvSpPr/>
          <p:nvPr/>
        </p:nvSpPr>
        <p:spPr>
          <a:xfrm>
            <a:off x="640080" y="71316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01 — PROBLEM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6"/>
          <p:cNvSpPr/>
          <p:nvPr/>
        </p:nvSpPr>
        <p:spPr>
          <a:xfrm>
            <a:off x="640080" y="1024200"/>
            <a:ext cx="10789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Pharmacovigilance is a data-scale problem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7"/>
          <p:cNvSpPr/>
          <p:nvPr/>
        </p:nvSpPr>
        <p:spPr>
          <a:xfrm>
            <a:off x="640080" y="166428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Safety teams must detect meaningful signals while regulatory teams must validate enormous submission packages.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8"/>
          <p:cNvSpPr/>
          <p:nvPr/>
        </p:nvSpPr>
        <p:spPr>
          <a:xfrm>
            <a:off x="640080" y="2423160"/>
            <a:ext cx="2422800" cy="1078560"/>
          </a:xfrm>
          <a:prstGeom prst="roundRect">
            <a:avLst>
              <a:gd name="adj" fmla="val 16667"/>
            </a:avLst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9"/>
          <p:cNvSpPr/>
          <p:nvPr/>
        </p:nvSpPr>
        <p:spPr>
          <a:xfrm>
            <a:off x="804600" y="2569320"/>
            <a:ext cx="2093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20M+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804600" y="3044880"/>
            <a:ext cx="2093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FAERS adverse-event reports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11"/>
          <p:cNvSpPr/>
          <p:nvPr/>
        </p:nvSpPr>
        <p:spPr>
          <a:xfrm>
            <a:off x="3246120" y="2423160"/>
            <a:ext cx="2422800" cy="1078560"/>
          </a:xfrm>
          <a:prstGeom prst="roundRect">
            <a:avLst>
              <a:gd name="adj" fmla="val 16667"/>
            </a:avLst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12"/>
          <p:cNvSpPr/>
          <p:nvPr/>
        </p:nvSpPr>
        <p:spPr>
          <a:xfrm>
            <a:off x="3410640" y="2569320"/>
            <a:ext cx="2093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2DC9A7"/>
                </a:solidFill>
                <a:effectLst/>
                <a:uFillTx/>
                <a:latin typeface="Aptos"/>
              </a:rPr>
              <a:t>100K+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3"/>
          <p:cNvSpPr/>
          <p:nvPr/>
        </p:nvSpPr>
        <p:spPr>
          <a:xfrm>
            <a:off x="3410640" y="3044880"/>
            <a:ext cx="2093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Pages possible in a CTD dossier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14"/>
          <p:cNvSpPr/>
          <p:nvPr/>
        </p:nvSpPr>
        <p:spPr>
          <a:xfrm>
            <a:off x="5852160" y="2423160"/>
            <a:ext cx="2422800" cy="1078560"/>
          </a:xfrm>
          <a:prstGeom prst="roundRect">
            <a:avLst>
              <a:gd name="adj" fmla="val 16667"/>
            </a:avLst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15"/>
          <p:cNvSpPr/>
          <p:nvPr/>
        </p:nvSpPr>
        <p:spPr>
          <a:xfrm>
            <a:off x="6016680" y="2569320"/>
            <a:ext cx="2093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4BE4A"/>
                </a:solidFill>
                <a:effectLst/>
                <a:uFillTx/>
                <a:latin typeface="Aptos"/>
              </a:rPr>
              <a:t>6–12 mo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6"/>
          <p:cNvSpPr/>
          <p:nvPr/>
        </p:nvSpPr>
        <p:spPr>
          <a:xfrm>
            <a:off x="6016680" y="3044880"/>
            <a:ext cx="2093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Potential delay from submission gaps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17"/>
          <p:cNvSpPr/>
          <p:nvPr/>
        </p:nvSpPr>
        <p:spPr>
          <a:xfrm>
            <a:off x="8458200" y="2423160"/>
            <a:ext cx="2422800" cy="1078560"/>
          </a:xfrm>
          <a:prstGeom prst="roundRect">
            <a:avLst>
              <a:gd name="adj" fmla="val 16667"/>
            </a:avLst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18"/>
          <p:cNvSpPr/>
          <p:nvPr/>
        </p:nvSpPr>
        <p:spPr>
          <a:xfrm>
            <a:off x="8622720" y="2569320"/>
            <a:ext cx="2093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EF666E"/>
                </a:solidFill>
                <a:effectLst/>
                <a:uFillTx/>
                <a:latin typeface="Aptos"/>
              </a:rPr>
              <a:t>$50–100M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9"/>
          <p:cNvSpPr/>
          <p:nvPr/>
        </p:nvSpPr>
        <p:spPr>
          <a:xfrm>
            <a:off x="8622720" y="3044880"/>
            <a:ext cx="2093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Potential cost exposure from delays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20"/>
          <p:cNvSpPr/>
          <p:nvPr/>
        </p:nvSpPr>
        <p:spPr>
          <a:xfrm>
            <a:off x="640080" y="3886200"/>
            <a:ext cx="10240920" cy="1416960"/>
          </a:xfrm>
          <a:prstGeom prst="roundRect">
            <a:avLst>
              <a:gd name="adj" fmla="val 16667"/>
            </a:avLst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21"/>
          <p:cNvSpPr/>
          <p:nvPr/>
        </p:nvSpPr>
        <p:spPr>
          <a:xfrm>
            <a:off x="868680" y="413316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WHO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22"/>
          <p:cNvSpPr/>
          <p:nvPr/>
        </p:nvSpPr>
        <p:spPr>
          <a:xfrm>
            <a:off x="1600200" y="4087440"/>
            <a:ext cx="8732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Pharmacovigilance scientists, drug-safety reviewers, regulatory-affairs teams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23"/>
          <p:cNvSpPr/>
          <p:nvPr/>
        </p:nvSpPr>
        <p:spPr>
          <a:xfrm>
            <a:off x="868680" y="459036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DC9A7"/>
                </a:solidFill>
                <a:effectLst/>
                <a:uFillTx/>
                <a:latin typeface="Aptos"/>
              </a:rPr>
              <a:t>WHY IT HURTS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24"/>
          <p:cNvSpPr/>
          <p:nvPr/>
        </p:nvSpPr>
        <p:spPr>
          <a:xfrm>
            <a:off x="1965960" y="4535280"/>
            <a:ext cx="8366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Manual review does not scale: emerging drug–event relationships can be buried in reports, while missing CTD components can surface late in the submission cycle.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25"/>
          <p:cNvSpPr/>
          <p:nvPr/>
        </p:nvSpPr>
        <p:spPr>
          <a:xfrm>
            <a:off x="502920" y="645552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Team PharmaNex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6"/>
          <p:cNvSpPr/>
          <p:nvPr/>
        </p:nvSpPr>
        <p:spPr>
          <a:xfrm>
            <a:off x="11201400" y="6455520"/>
            <a:ext cx="456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27"/>
          <p:cNvSpPr/>
          <p:nvPr/>
        </p:nvSpPr>
        <p:spPr>
          <a:xfrm>
            <a:off x="411480" y="100440"/>
            <a:ext cx="2194200" cy="383760"/>
          </a:xfrm>
          <a:prstGeom prst="rect">
            <a:avLst/>
          </a:prstGeom>
          <a:solidFill>
            <a:srgbClr val="0A1220"/>
          </a:solidFill>
          <a:ln w="12700">
            <a:solidFill>
              <a:srgbClr val="0A12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28"/>
          <p:cNvSpPr/>
          <p:nvPr/>
        </p:nvSpPr>
        <p:spPr>
          <a:xfrm>
            <a:off x="502920" y="15552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PharmaGuard AI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36D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5"/>
          <p:cNvSpPr/>
          <p:nvPr/>
        </p:nvSpPr>
        <p:spPr>
          <a:xfrm>
            <a:off x="640080" y="71316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02 — PROBLEM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6"/>
          <p:cNvSpPr/>
          <p:nvPr/>
        </p:nvSpPr>
        <p:spPr>
          <a:xfrm>
            <a:off x="640080" y="1024200"/>
            <a:ext cx="10789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Two workflows. One bottleneck: manual review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7"/>
          <p:cNvSpPr/>
          <p:nvPr/>
        </p:nvSpPr>
        <p:spPr>
          <a:xfrm>
            <a:off x="640080" y="166428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The challenge is not just data volume — it is turning complex evidence into prioritized, reviewable decisions.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8"/>
          <p:cNvSpPr/>
          <p:nvPr/>
        </p:nvSpPr>
        <p:spPr>
          <a:xfrm>
            <a:off x="640080" y="2331720"/>
            <a:ext cx="4891680" cy="3245760"/>
          </a:xfrm>
          <a:prstGeom prst="roundRect">
            <a:avLst>
              <a:gd name="adj" fmla="val 4735"/>
            </a:avLst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9"/>
          <p:cNvSpPr/>
          <p:nvPr/>
        </p:nvSpPr>
        <p:spPr>
          <a:xfrm>
            <a:off x="896040" y="258768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SAFETY SIGNAL WORKFLOW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0"/>
          <p:cNvSpPr/>
          <p:nvPr/>
        </p:nvSpPr>
        <p:spPr>
          <a:xfrm>
            <a:off x="896040" y="30632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01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1"/>
          <p:cNvSpPr/>
          <p:nvPr/>
        </p:nvSpPr>
        <p:spPr>
          <a:xfrm>
            <a:off x="1353240" y="304488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Adverse-event reports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2"/>
          <p:cNvSpPr/>
          <p:nvPr/>
        </p:nvSpPr>
        <p:spPr>
          <a:xfrm>
            <a:off x="3401640" y="304488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Millions of observations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13"/>
          <p:cNvSpPr/>
          <p:nvPr/>
        </p:nvSpPr>
        <p:spPr>
          <a:xfrm>
            <a:off x="896040" y="3657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02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14"/>
          <p:cNvSpPr/>
          <p:nvPr/>
        </p:nvSpPr>
        <p:spPr>
          <a:xfrm>
            <a:off x="1353240" y="363924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Drug × event pairs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5"/>
          <p:cNvSpPr/>
          <p:nvPr/>
        </p:nvSpPr>
        <p:spPr>
          <a:xfrm>
            <a:off x="3401640" y="363924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Many combinations to compare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16"/>
          <p:cNvSpPr/>
          <p:nvPr/>
        </p:nvSpPr>
        <p:spPr>
          <a:xfrm>
            <a:off x="896040" y="4251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03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17"/>
          <p:cNvSpPr/>
          <p:nvPr/>
        </p:nvSpPr>
        <p:spPr>
          <a:xfrm>
            <a:off x="1353240" y="423360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Disproportionality analysis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18"/>
          <p:cNvSpPr/>
          <p:nvPr/>
        </p:nvSpPr>
        <p:spPr>
          <a:xfrm>
            <a:off x="3401640" y="423360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PRR / ROR calculations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19"/>
          <p:cNvSpPr/>
          <p:nvPr/>
        </p:nvSpPr>
        <p:spPr>
          <a:xfrm>
            <a:off x="896040" y="48463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04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20"/>
          <p:cNvSpPr/>
          <p:nvPr/>
        </p:nvSpPr>
        <p:spPr>
          <a:xfrm>
            <a:off x="1353240" y="482796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Human investigation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21"/>
          <p:cNvSpPr/>
          <p:nvPr/>
        </p:nvSpPr>
        <p:spPr>
          <a:xfrm>
            <a:off x="3401640" y="482796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Clinical context still required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Rounded Rectangle 22"/>
          <p:cNvSpPr/>
          <p:nvPr/>
        </p:nvSpPr>
        <p:spPr>
          <a:xfrm>
            <a:off x="5989320" y="2331720"/>
            <a:ext cx="4891680" cy="3245760"/>
          </a:xfrm>
          <a:prstGeom prst="roundRect">
            <a:avLst>
              <a:gd name="adj" fmla="val 4668"/>
            </a:avLst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23"/>
          <p:cNvSpPr/>
          <p:nvPr/>
        </p:nvSpPr>
        <p:spPr>
          <a:xfrm>
            <a:off x="6245280" y="258768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DC9A7"/>
                </a:solidFill>
                <a:effectLst/>
                <a:uFillTx/>
                <a:latin typeface="Aptos"/>
              </a:rPr>
              <a:t>REGULATORY READINESS WORKFLOW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24"/>
          <p:cNvSpPr/>
          <p:nvPr/>
        </p:nvSpPr>
        <p:spPr>
          <a:xfrm>
            <a:off x="6245280" y="30632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DC9A7"/>
                </a:solidFill>
                <a:effectLst/>
                <a:uFillTx/>
                <a:latin typeface="Aptos"/>
              </a:rPr>
              <a:t>01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25"/>
          <p:cNvSpPr/>
          <p:nvPr/>
        </p:nvSpPr>
        <p:spPr>
          <a:xfrm>
            <a:off x="6702480" y="304488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CTD dossier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26"/>
          <p:cNvSpPr/>
          <p:nvPr/>
        </p:nvSpPr>
        <p:spPr>
          <a:xfrm>
            <a:off x="8750880" y="304488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Large multi-module package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27"/>
          <p:cNvSpPr/>
          <p:nvPr/>
        </p:nvSpPr>
        <p:spPr>
          <a:xfrm>
            <a:off x="6245280" y="365760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DC9A7"/>
                </a:solidFill>
                <a:effectLst/>
                <a:uFillTx/>
                <a:latin typeface="Aptos"/>
              </a:rPr>
              <a:t>02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28"/>
          <p:cNvSpPr/>
          <p:nvPr/>
        </p:nvSpPr>
        <p:spPr>
          <a:xfrm>
            <a:off x="6702480" y="363924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Requirement mapping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29"/>
          <p:cNvSpPr/>
          <p:nvPr/>
        </p:nvSpPr>
        <p:spPr>
          <a:xfrm>
            <a:off x="8750880" y="363924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ICH M4 structure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30"/>
          <p:cNvSpPr/>
          <p:nvPr/>
        </p:nvSpPr>
        <p:spPr>
          <a:xfrm>
            <a:off x="6245280" y="4251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DC9A7"/>
                </a:solidFill>
                <a:effectLst/>
                <a:uFillTx/>
                <a:latin typeface="Aptos"/>
              </a:rPr>
              <a:t>03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31"/>
          <p:cNvSpPr/>
          <p:nvPr/>
        </p:nvSpPr>
        <p:spPr>
          <a:xfrm>
            <a:off x="6702480" y="423360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Gap detection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32"/>
          <p:cNvSpPr/>
          <p:nvPr/>
        </p:nvSpPr>
        <p:spPr>
          <a:xfrm>
            <a:off x="8750880" y="423360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Missing / incomplete sections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33"/>
          <p:cNvSpPr/>
          <p:nvPr/>
        </p:nvSpPr>
        <p:spPr>
          <a:xfrm>
            <a:off x="6245280" y="48463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DC9A7"/>
                </a:solidFill>
                <a:effectLst/>
                <a:uFillTx/>
                <a:latin typeface="Aptos"/>
              </a:rPr>
              <a:t>04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34"/>
          <p:cNvSpPr/>
          <p:nvPr/>
        </p:nvSpPr>
        <p:spPr>
          <a:xfrm>
            <a:off x="6702480" y="482796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Readiness review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35"/>
          <p:cNvSpPr/>
          <p:nvPr/>
        </p:nvSpPr>
        <p:spPr>
          <a:xfrm>
            <a:off x="8750880" y="4827960"/>
            <a:ext cx="1737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Prioritize remediation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36"/>
          <p:cNvSpPr/>
          <p:nvPr/>
        </p:nvSpPr>
        <p:spPr>
          <a:xfrm>
            <a:off x="868680" y="5833800"/>
            <a:ext cx="10058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Opportunity: make the first-pass review faster, structured, and explainable — without removing the expert from the loop.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37"/>
          <p:cNvSpPr/>
          <p:nvPr/>
        </p:nvSpPr>
        <p:spPr>
          <a:xfrm>
            <a:off x="502920" y="645552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Team PharmaNex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38"/>
          <p:cNvSpPr/>
          <p:nvPr/>
        </p:nvSpPr>
        <p:spPr>
          <a:xfrm>
            <a:off x="11201400" y="6455520"/>
            <a:ext cx="456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39"/>
          <p:cNvSpPr/>
          <p:nvPr/>
        </p:nvSpPr>
        <p:spPr>
          <a:xfrm>
            <a:off x="411480" y="100440"/>
            <a:ext cx="2194200" cy="383760"/>
          </a:xfrm>
          <a:prstGeom prst="rect">
            <a:avLst/>
          </a:prstGeom>
          <a:solidFill>
            <a:srgbClr val="0A1220"/>
          </a:solidFill>
          <a:ln w="12700">
            <a:solidFill>
              <a:srgbClr val="0A12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40"/>
          <p:cNvSpPr/>
          <p:nvPr/>
        </p:nvSpPr>
        <p:spPr>
          <a:xfrm>
            <a:off x="502920" y="15552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PharmaGuard AI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36D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5"/>
          <p:cNvSpPr/>
          <p:nvPr/>
        </p:nvSpPr>
        <p:spPr>
          <a:xfrm>
            <a:off x="640080" y="71316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03 — SOLUTION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6"/>
          <p:cNvSpPr/>
          <p:nvPr/>
        </p:nvSpPr>
        <p:spPr>
          <a:xfrm>
            <a:off x="640080" y="1024200"/>
            <a:ext cx="10789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PharmaGuard AI: one intelligence layer for two critical reviews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7"/>
          <p:cNvSpPr/>
          <p:nvPr/>
        </p:nvSpPr>
        <p:spPr>
          <a:xfrm>
            <a:off x="640080" y="2012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A focused platform that turns adverse-event data and CTD documents into structured signals, gaps, and reviewer-ready insights.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29"/>
          <p:cNvSpPr/>
          <p:nvPr/>
        </p:nvSpPr>
        <p:spPr>
          <a:xfrm>
            <a:off x="502920" y="645552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Team PharmaNex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30"/>
          <p:cNvSpPr/>
          <p:nvPr/>
        </p:nvSpPr>
        <p:spPr>
          <a:xfrm>
            <a:off x="11201400" y="6455520"/>
            <a:ext cx="456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31"/>
          <p:cNvSpPr/>
          <p:nvPr/>
        </p:nvSpPr>
        <p:spPr>
          <a:xfrm>
            <a:off x="411480" y="100440"/>
            <a:ext cx="2194200" cy="383760"/>
          </a:xfrm>
          <a:prstGeom prst="rect">
            <a:avLst/>
          </a:prstGeom>
          <a:solidFill>
            <a:srgbClr val="0A1220"/>
          </a:solidFill>
          <a:ln w="12700">
            <a:solidFill>
              <a:srgbClr val="0A12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32"/>
          <p:cNvSpPr/>
          <p:nvPr/>
        </p:nvSpPr>
        <p:spPr>
          <a:xfrm>
            <a:off x="502920" y="15552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PharmaGuard AI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 33"/>
          <p:cNvSpPr/>
          <p:nvPr/>
        </p:nvSpPr>
        <p:spPr>
          <a:xfrm>
            <a:off x="4160520" y="2775600"/>
            <a:ext cx="3885840" cy="1096920"/>
          </a:xfrm>
          <a:prstGeom prst="rect">
            <a:avLst/>
          </a:prstGeom>
          <a:solidFill>
            <a:srgbClr val="1D304C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34"/>
          <p:cNvSpPr/>
          <p:nvPr/>
        </p:nvSpPr>
        <p:spPr>
          <a:xfrm>
            <a:off x="4160520" y="3004200"/>
            <a:ext cx="3885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PHARMAGUARD AI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35"/>
          <p:cNvSpPr/>
          <p:nvPr/>
        </p:nvSpPr>
        <p:spPr>
          <a:xfrm>
            <a:off x="4160520" y="3342600"/>
            <a:ext cx="3885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Decision-support layer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36"/>
          <p:cNvSpPr/>
          <p:nvPr/>
        </p:nvSpPr>
        <p:spPr>
          <a:xfrm>
            <a:off x="640080" y="2638440"/>
            <a:ext cx="3062880" cy="1325520"/>
          </a:xfrm>
          <a:prstGeom prst="rect">
            <a:avLst/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37"/>
          <p:cNvSpPr/>
          <p:nvPr/>
        </p:nvSpPr>
        <p:spPr>
          <a:xfrm>
            <a:off x="822960" y="280296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01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38"/>
          <p:cNvSpPr/>
          <p:nvPr/>
        </p:nvSpPr>
        <p:spPr>
          <a:xfrm>
            <a:off x="1325880" y="2784600"/>
            <a:ext cx="2148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Safety Data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39"/>
          <p:cNvSpPr/>
          <p:nvPr/>
        </p:nvSpPr>
        <p:spPr>
          <a:xfrm>
            <a:off x="1325880" y="3159720"/>
            <a:ext cx="2148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Adverse-event records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40"/>
          <p:cNvSpPr/>
          <p:nvPr/>
        </p:nvSpPr>
        <p:spPr>
          <a:xfrm>
            <a:off x="640080" y="4375800"/>
            <a:ext cx="3062880" cy="1325520"/>
          </a:xfrm>
          <a:prstGeom prst="rect">
            <a:avLst/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41"/>
          <p:cNvSpPr/>
          <p:nvPr/>
        </p:nvSpPr>
        <p:spPr>
          <a:xfrm>
            <a:off x="822960" y="454032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02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42"/>
          <p:cNvSpPr/>
          <p:nvPr/>
        </p:nvSpPr>
        <p:spPr>
          <a:xfrm>
            <a:off x="1325880" y="4521960"/>
            <a:ext cx="2148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Signal Engine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43"/>
          <p:cNvSpPr/>
          <p:nvPr/>
        </p:nvSpPr>
        <p:spPr>
          <a:xfrm>
            <a:off x="1325880" y="4897080"/>
            <a:ext cx="2148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PRR + ROR analysis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Rectangle 44"/>
          <p:cNvSpPr/>
          <p:nvPr/>
        </p:nvSpPr>
        <p:spPr>
          <a:xfrm>
            <a:off x="8366760" y="2638440"/>
            <a:ext cx="3062880" cy="1325520"/>
          </a:xfrm>
          <a:prstGeom prst="rect">
            <a:avLst/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45"/>
          <p:cNvSpPr/>
          <p:nvPr/>
        </p:nvSpPr>
        <p:spPr>
          <a:xfrm>
            <a:off x="8549640" y="280296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DC9A7"/>
                </a:solidFill>
                <a:effectLst/>
                <a:uFillTx/>
                <a:latin typeface="Aptos"/>
              </a:rPr>
              <a:t>03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46"/>
          <p:cNvSpPr/>
          <p:nvPr/>
        </p:nvSpPr>
        <p:spPr>
          <a:xfrm>
            <a:off x="9052560" y="2784600"/>
            <a:ext cx="2148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CTD Documents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47"/>
          <p:cNvSpPr/>
          <p:nvPr/>
        </p:nvSpPr>
        <p:spPr>
          <a:xfrm>
            <a:off x="9052560" y="3159720"/>
            <a:ext cx="2148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PDF / DOCX intake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48"/>
          <p:cNvSpPr/>
          <p:nvPr/>
        </p:nvSpPr>
        <p:spPr>
          <a:xfrm>
            <a:off x="8366760" y="4375800"/>
            <a:ext cx="3062880" cy="1325520"/>
          </a:xfrm>
          <a:prstGeom prst="rect">
            <a:avLst/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49"/>
          <p:cNvSpPr/>
          <p:nvPr/>
        </p:nvSpPr>
        <p:spPr>
          <a:xfrm>
            <a:off x="8549640" y="454032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DC9A7"/>
                </a:solidFill>
                <a:effectLst/>
                <a:uFillTx/>
                <a:latin typeface="Aptos"/>
              </a:rPr>
              <a:t>04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50"/>
          <p:cNvSpPr/>
          <p:nvPr/>
        </p:nvSpPr>
        <p:spPr>
          <a:xfrm>
            <a:off x="9052560" y="4521960"/>
            <a:ext cx="2148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Gap Detection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51"/>
          <p:cNvSpPr/>
          <p:nvPr/>
        </p:nvSpPr>
        <p:spPr>
          <a:xfrm>
            <a:off x="9052560" y="4897080"/>
            <a:ext cx="2148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ICH M4 mapping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52"/>
          <p:cNvSpPr/>
          <p:nvPr/>
        </p:nvSpPr>
        <p:spPr>
          <a:xfrm>
            <a:off x="3657600" y="4800600"/>
            <a:ext cx="47091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Evidence → analysis → prioritization → expert review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36D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5"/>
          <p:cNvSpPr/>
          <p:nvPr/>
        </p:nvSpPr>
        <p:spPr>
          <a:xfrm>
            <a:off x="640080" y="71316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04 — HOW IT WORKS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6"/>
          <p:cNvSpPr/>
          <p:nvPr/>
        </p:nvSpPr>
        <p:spPr>
          <a:xfrm>
            <a:off x="640080" y="1024200"/>
            <a:ext cx="10789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End-to-end workflow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7"/>
          <p:cNvSpPr/>
          <p:nvPr/>
        </p:nvSpPr>
        <p:spPr>
          <a:xfrm>
            <a:off x="640080" y="166428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The same interface connects ingestion, analysis, regulatory mapping, and reporting.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35"/>
          <p:cNvSpPr/>
          <p:nvPr/>
        </p:nvSpPr>
        <p:spPr>
          <a:xfrm>
            <a:off x="502920" y="645552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Team PharmaNex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36"/>
          <p:cNvSpPr/>
          <p:nvPr/>
        </p:nvSpPr>
        <p:spPr>
          <a:xfrm>
            <a:off x="11201400" y="6455520"/>
            <a:ext cx="456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Rectangle 37"/>
          <p:cNvSpPr/>
          <p:nvPr/>
        </p:nvSpPr>
        <p:spPr>
          <a:xfrm>
            <a:off x="411480" y="100440"/>
            <a:ext cx="2194200" cy="383760"/>
          </a:xfrm>
          <a:prstGeom prst="rect">
            <a:avLst/>
          </a:prstGeom>
          <a:solidFill>
            <a:srgbClr val="0A1220"/>
          </a:solidFill>
          <a:ln w="12700">
            <a:solidFill>
              <a:srgbClr val="0A12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38"/>
          <p:cNvSpPr/>
          <p:nvPr/>
        </p:nvSpPr>
        <p:spPr>
          <a:xfrm>
            <a:off x="502920" y="15552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PharmaGuard AI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Rectangle 39"/>
          <p:cNvSpPr/>
          <p:nvPr/>
        </p:nvSpPr>
        <p:spPr>
          <a:xfrm>
            <a:off x="502920" y="2468880"/>
            <a:ext cx="2057040" cy="1919880"/>
          </a:xfrm>
          <a:prstGeom prst="rect">
            <a:avLst/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40"/>
          <p:cNvSpPr/>
          <p:nvPr/>
        </p:nvSpPr>
        <p:spPr>
          <a:xfrm>
            <a:off x="667440" y="26701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01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41"/>
          <p:cNvSpPr/>
          <p:nvPr/>
        </p:nvSpPr>
        <p:spPr>
          <a:xfrm>
            <a:off x="667440" y="306324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INGEST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42"/>
          <p:cNvSpPr/>
          <p:nvPr/>
        </p:nvSpPr>
        <p:spPr>
          <a:xfrm>
            <a:off x="667440" y="3493080"/>
            <a:ext cx="1691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Adverse events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or CTD files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43"/>
          <p:cNvSpPr/>
          <p:nvPr/>
        </p:nvSpPr>
        <p:spPr>
          <a:xfrm>
            <a:off x="2578680" y="318204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→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Rectangle 44"/>
          <p:cNvSpPr/>
          <p:nvPr/>
        </p:nvSpPr>
        <p:spPr>
          <a:xfrm>
            <a:off x="2834640" y="2468880"/>
            <a:ext cx="2057040" cy="1919880"/>
          </a:xfrm>
          <a:prstGeom prst="rect">
            <a:avLst/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45"/>
          <p:cNvSpPr/>
          <p:nvPr/>
        </p:nvSpPr>
        <p:spPr>
          <a:xfrm>
            <a:off x="2999160" y="26701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02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46"/>
          <p:cNvSpPr/>
          <p:nvPr/>
        </p:nvSpPr>
        <p:spPr>
          <a:xfrm>
            <a:off x="2999160" y="306324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NORMALIZE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47"/>
          <p:cNvSpPr/>
          <p:nvPr/>
        </p:nvSpPr>
        <p:spPr>
          <a:xfrm>
            <a:off x="2999160" y="3493080"/>
            <a:ext cx="1691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Structured data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&amp; document intake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48"/>
          <p:cNvSpPr/>
          <p:nvPr/>
        </p:nvSpPr>
        <p:spPr>
          <a:xfrm>
            <a:off x="4910400" y="318204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→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Rectangle 49"/>
          <p:cNvSpPr/>
          <p:nvPr/>
        </p:nvSpPr>
        <p:spPr>
          <a:xfrm>
            <a:off x="5166360" y="2468880"/>
            <a:ext cx="2057040" cy="1919880"/>
          </a:xfrm>
          <a:prstGeom prst="rect">
            <a:avLst/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50"/>
          <p:cNvSpPr/>
          <p:nvPr/>
        </p:nvSpPr>
        <p:spPr>
          <a:xfrm>
            <a:off x="5330880" y="26701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03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51"/>
          <p:cNvSpPr/>
          <p:nvPr/>
        </p:nvSpPr>
        <p:spPr>
          <a:xfrm>
            <a:off x="5330880" y="306324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ANALYZE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52"/>
          <p:cNvSpPr/>
          <p:nvPr/>
        </p:nvSpPr>
        <p:spPr>
          <a:xfrm>
            <a:off x="5330880" y="3493080"/>
            <a:ext cx="1691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PRR / ROR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&amp; CTD checks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53"/>
          <p:cNvSpPr/>
          <p:nvPr/>
        </p:nvSpPr>
        <p:spPr>
          <a:xfrm>
            <a:off x="7242120" y="318204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→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54"/>
          <p:cNvSpPr/>
          <p:nvPr/>
        </p:nvSpPr>
        <p:spPr>
          <a:xfrm>
            <a:off x="7498080" y="2468880"/>
            <a:ext cx="2057040" cy="1919880"/>
          </a:xfrm>
          <a:prstGeom prst="rect">
            <a:avLst/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55"/>
          <p:cNvSpPr/>
          <p:nvPr/>
        </p:nvSpPr>
        <p:spPr>
          <a:xfrm>
            <a:off x="7662600" y="26701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DC9A7"/>
                </a:solidFill>
                <a:effectLst/>
                <a:uFillTx/>
                <a:latin typeface="Aptos"/>
              </a:rPr>
              <a:t>04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56"/>
          <p:cNvSpPr/>
          <p:nvPr/>
        </p:nvSpPr>
        <p:spPr>
          <a:xfrm>
            <a:off x="7662600" y="306324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PRIORITIZE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57"/>
          <p:cNvSpPr/>
          <p:nvPr/>
        </p:nvSpPr>
        <p:spPr>
          <a:xfrm>
            <a:off x="7662600" y="3493080"/>
            <a:ext cx="1691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Signals, gaps,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readiness findings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58"/>
          <p:cNvSpPr/>
          <p:nvPr/>
        </p:nvSpPr>
        <p:spPr>
          <a:xfrm>
            <a:off x="9573840" y="318204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→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 59"/>
          <p:cNvSpPr/>
          <p:nvPr/>
        </p:nvSpPr>
        <p:spPr>
          <a:xfrm>
            <a:off x="9829800" y="2468880"/>
            <a:ext cx="2057040" cy="1919880"/>
          </a:xfrm>
          <a:prstGeom prst="rect">
            <a:avLst/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60"/>
          <p:cNvSpPr/>
          <p:nvPr/>
        </p:nvSpPr>
        <p:spPr>
          <a:xfrm>
            <a:off x="9994320" y="26701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DC9A7"/>
                </a:solidFill>
                <a:effectLst/>
                <a:uFillTx/>
                <a:latin typeface="Aptos"/>
              </a:rPr>
              <a:t>05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61"/>
          <p:cNvSpPr/>
          <p:nvPr/>
        </p:nvSpPr>
        <p:spPr>
          <a:xfrm>
            <a:off x="9994320" y="306324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REVIEW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62"/>
          <p:cNvSpPr/>
          <p:nvPr/>
        </p:nvSpPr>
        <p:spPr>
          <a:xfrm>
            <a:off x="9994320" y="3493080"/>
            <a:ext cx="1691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AI-assisted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reviewer summary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Rectangle 63"/>
          <p:cNvSpPr/>
          <p:nvPr/>
        </p:nvSpPr>
        <p:spPr>
          <a:xfrm>
            <a:off x="1051560" y="4983480"/>
            <a:ext cx="10058040" cy="749520"/>
          </a:xfrm>
          <a:prstGeom prst="rect">
            <a:avLst/>
          </a:prstGeom>
          <a:solidFill>
            <a:srgbClr val="1D304C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64"/>
          <p:cNvSpPr/>
          <p:nvPr/>
        </p:nvSpPr>
        <p:spPr>
          <a:xfrm>
            <a:off x="1280160" y="518472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Human-in-the-loop by design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65"/>
          <p:cNvSpPr/>
          <p:nvPr/>
        </p:nvSpPr>
        <p:spPr>
          <a:xfrm>
            <a:off x="3703320" y="5129640"/>
            <a:ext cx="6994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Outputs are review aids: every potential signal or gap remains subject to qualified expert assessment.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36D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5"/>
          <p:cNvSpPr/>
          <p:nvPr/>
        </p:nvSpPr>
        <p:spPr>
          <a:xfrm>
            <a:off x="640080" y="71316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05 — TECHNICAL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6"/>
          <p:cNvSpPr/>
          <p:nvPr/>
        </p:nvSpPr>
        <p:spPr>
          <a:xfrm>
            <a:off x="640080" y="1024200"/>
            <a:ext cx="10789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Drug safety signal detector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7"/>
          <p:cNvSpPr/>
          <p:nvPr/>
        </p:nvSpPr>
        <p:spPr>
          <a:xfrm>
            <a:off x="640080" y="166428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Disproportionality statistics help prioritize drug–event combinations for further investigation.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Rounded Rectangle 8"/>
          <p:cNvSpPr/>
          <p:nvPr/>
        </p:nvSpPr>
        <p:spPr>
          <a:xfrm>
            <a:off x="640080" y="2331720"/>
            <a:ext cx="4571640" cy="3337200"/>
          </a:xfrm>
          <a:prstGeom prst="roundRect">
            <a:avLst>
              <a:gd name="adj" fmla="val 4357"/>
            </a:avLst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9"/>
          <p:cNvSpPr/>
          <p:nvPr/>
        </p:nvSpPr>
        <p:spPr>
          <a:xfrm>
            <a:off x="896040" y="25876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2 × 2 CONTINGENCY TABLE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10"/>
          <p:cNvSpPr/>
          <p:nvPr/>
        </p:nvSpPr>
        <p:spPr>
          <a:xfrm>
            <a:off x="914400" y="3063240"/>
            <a:ext cx="251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Drug + Event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11"/>
          <p:cNvSpPr/>
          <p:nvPr/>
        </p:nvSpPr>
        <p:spPr>
          <a:xfrm>
            <a:off x="4251960" y="3063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12"/>
          <p:cNvSpPr/>
          <p:nvPr/>
        </p:nvSpPr>
        <p:spPr>
          <a:xfrm>
            <a:off x="914400" y="3566160"/>
            <a:ext cx="251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Drug + Other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13"/>
          <p:cNvSpPr/>
          <p:nvPr/>
        </p:nvSpPr>
        <p:spPr>
          <a:xfrm>
            <a:off x="4251960" y="356616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b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14"/>
          <p:cNvSpPr/>
          <p:nvPr/>
        </p:nvSpPr>
        <p:spPr>
          <a:xfrm>
            <a:off x="914400" y="4069080"/>
            <a:ext cx="251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Other Drug + Event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15"/>
          <p:cNvSpPr/>
          <p:nvPr/>
        </p:nvSpPr>
        <p:spPr>
          <a:xfrm>
            <a:off x="4251960" y="406908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c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16"/>
          <p:cNvSpPr/>
          <p:nvPr/>
        </p:nvSpPr>
        <p:spPr>
          <a:xfrm>
            <a:off x="914400" y="4572000"/>
            <a:ext cx="251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Other Drug + Other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17"/>
          <p:cNvSpPr/>
          <p:nvPr/>
        </p:nvSpPr>
        <p:spPr>
          <a:xfrm>
            <a:off x="4251960" y="457200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18"/>
          <p:cNvSpPr/>
          <p:nvPr/>
        </p:nvSpPr>
        <p:spPr>
          <a:xfrm>
            <a:off x="914400" y="5166360"/>
            <a:ext cx="3931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DC9A7"/>
                </a:solidFill>
                <a:effectLst/>
                <a:uFillTx/>
                <a:latin typeface="Aptos"/>
              </a:rPr>
              <a:t>PRR = [a/(a+b)] / [c/(c+d)]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Rounded Rectangle 19"/>
          <p:cNvSpPr/>
          <p:nvPr/>
        </p:nvSpPr>
        <p:spPr>
          <a:xfrm>
            <a:off x="5468040" y="2331720"/>
            <a:ext cx="5486040" cy="3337200"/>
          </a:xfrm>
          <a:prstGeom prst="roundRect">
            <a:avLst>
              <a:gd name="adj" fmla="val 4400"/>
            </a:avLst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20"/>
          <p:cNvSpPr/>
          <p:nvPr/>
        </p:nvSpPr>
        <p:spPr>
          <a:xfrm>
            <a:off x="5742360" y="25876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DC9A7"/>
                </a:solidFill>
                <a:effectLst/>
                <a:uFillTx/>
                <a:latin typeface="Aptos"/>
              </a:rPr>
              <a:t>ROR + THRESHOLDING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21"/>
          <p:cNvSpPr/>
          <p:nvPr/>
        </p:nvSpPr>
        <p:spPr>
          <a:xfrm>
            <a:off x="5760720" y="306324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ROR = (a/b) / (c/d)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22"/>
          <p:cNvSpPr/>
          <p:nvPr/>
        </p:nvSpPr>
        <p:spPr>
          <a:xfrm>
            <a:off x="5760720" y="3657600"/>
            <a:ext cx="47088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• Configured thresholding can surface candidates for review.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• Current prototype UI exposes ROR ≥ 2.0, N ≥ 3, p &lt; 0.05.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• A flagged result is a potential safety signal — not proof of causality.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24"/>
          <p:cNvSpPr/>
          <p:nvPr/>
        </p:nvSpPr>
        <p:spPr>
          <a:xfrm>
            <a:off x="502920" y="645552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Team PharmaNex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25"/>
          <p:cNvSpPr/>
          <p:nvPr/>
        </p:nvSpPr>
        <p:spPr>
          <a:xfrm>
            <a:off x="11201400" y="6455520"/>
            <a:ext cx="456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Rectangle 26"/>
          <p:cNvSpPr/>
          <p:nvPr/>
        </p:nvSpPr>
        <p:spPr>
          <a:xfrm>
            <a:off x="411480" y="100440"/>
            <a:ext cx="2194200" cy="383760"/>
          </a:xfrm>
          <a:prstGeom prst="rect">
            <a:avLst/>
          </a:prstGeom>
          <a:solidFill>
            <a:srgbClr val="0A1220"/>
          </a:solidFill>
          <a:ln w="12700">
            <a:solidFill>
              <a:srgbClr val="0A12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Box 27"/>
          <p:cNvSpPr/>
          <p:nvPr/>
        </p:nvSpPr>
        <p:spPr>
          <a:xfrm>
            <a:off x="502920" y="15552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PharmaGuard AI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36D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5"/>
          <p:cNvSpPr/>
          <p:nvPr/>
        </p:nvSpPr>
        <p:spPr>
          <a:xfrm>
            <a:off x="640080" y="71316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06 — TECHNICAL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6"/>
          <p:cNvSpPr/>
          <p:nvPr/>
        </p:nvSpPr>
        <p:spPr>
          <a:xfrm>
            <a:off x="640080" y="1024200"/>
            <a:ext cx="10789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Regulatory submission readiness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7"/>
          <p:cNvSpPr/>
          <p:nvPr/>
        </p:nvSpPr>
        <p:spPr>
          <a:xfrm>
            <a:off x="640080" y="166428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The CTD workflow maps uploaded document structure to configured ICH M4 expectations and highlights gaps.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36"/>
          <p:cNvSpPr/>
          <p:nvPr/>
        </p:nvSpPr>
        <p:spPr>
          <a:xfrm>
            <a:off x="502920" y="645552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Team PharmaNex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37"/>
          <p:cNvSpPr/>
          <p:nvPr/>
        </p:nvSpPr>
        <p:spPr>
          <a:xfrm>
            <a:off x="11201400" y="6455520"/>
            <a:ext cx="456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Rectangle 38"/>
          <p:cNvSpPr/>
          <p:nvPr/>
        </p:nvSpPr>
        <p:spPr>
          <a:xfrm>
            <a:off x="411480" y="100440"/>
            <a:ext cx="2194200" cy="383760"/>
          </a:xfrm>
          <a:prstGeom prst="rect">
            <a:avLst/>
          </a:prstGeom>
          <a:solidFill>
            <a:srgbClr val="0A1220"/>
          </a:solidFill>
          <a:ln w="12700">
            <a:solidFill>
              <a:srgbClr val="0A12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Box 39"/>
          <p:cNvSpPr/>
          <p:nvPr/>
        </p:nvSpPr>
        <p:spPr>
          <a:xfrm>
            <a:off x="502920" y="15552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PharmaGuard AI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Rectangle 40"/>
          <p:cNvSpPr/>
          <p:nvPr/>
        </p:nvSpPr>
        <p:spPr>
          <a:xfrm>
            <a:off x="502920" y="2331720"/>
            <a:ext cx="2057040" cy="1599840"/>
          </a:xfrm>
          <a:prstGeom prst="rect">
            <a:avLst/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41"/>
          <p:cNvSpPr/>
          <p:nvPr/>
        </p:nvSpPr>
        <p:spPr>
          <a:xfrm>
            <a:off x="667440" y="254196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DC9A7"/>
                </a:solidFill>
                <a:effectLst/>
                <a:uFillTx/>
                <a:latin typeface="Aptos"/>
              </a:rPr>
              <a:t>01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42"/>
          <p:cNvSpPr/>
          <p:nvPr/>
        </p:nvSpPr>
        <p:spPr>
          <a:xfrm>
            <a:off x="667440" y="288036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Document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43"/>
          <p:cNvSpPr/>
          <p:nvPr/>
        </p:nvSpPr>
        <p:spPr>
          <a:xfrm>
            <a:off x="667440" y="331020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PDF / DOCX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44"/>
          <p:cNvSpPr/>
          <p:nvPr/>
        </p:nvSpPr>
        <p:spPr>
          <a:xfrm>
            <a:off x="2578680" y="2853000"/>
            <a:ext cx="228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DC9A7"/>
                </a:solidFill>
                <a:effectLst/>
                <a:uFillTx/>
                <a:latin typeface="Aptos"/>
              </a:rPr>
              <a:t>→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Rectangle 45"/>
          <p:cNvSpPr/>
          <p:nvPr/>
        </p:nvSpPr>
        <p:spPr>
          <a:xfrm>
            <a:off x="2834640" y="2331720"/>
            <a:ext cx="2057040" cy="1599840"/>
          </a:xfrm>
          <a:prstGeom prst="rect">
            <a:avLst/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TextBox 46"/>
          <p:cNvSpPr/>
          <p:nvPr/>
        </p:nvSpPr>
        <p:spPr>
          <a:xfrm>
            <a:off x="2999160" y="254196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DC9A7"/>
                </a:solidFill>
                <a:effectLst/>
                <a:uFillTx/>
                <a:latin typeface="Aptos"/>
              </a:rPr>
              <a:t>02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47"/>
          <p:cNvSpPr/>
          <p:nvPr/>
        </p:nvSpPr>
        <p:spPr>
          <a:xfrm>
            <a:off x="2999160" y="288036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Extraction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48"/>
          <p:cNvSpPr/>
          <p:nvPr/>
        </p:nvSpPr>
        <p:spPr>
          <a:xfrm>
            <a:off x="2999160" y="331020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Sections / metadata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49"/>
          <p:cNvSpPr/>
          <p:nvPr/>
        </p:nvSpPr>
        <p:spPr>
          <a:xfrm>
            <a:off x="4910400" y="2853000"/>
            <a:ext cx="228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DC9A7"/>
                </a:solidFill>
                <a:effectLst/>
                <a:uFillTx/>
                <a:latin typeface="Aptos"/>
              </a:rPr>
              <a:t>→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Rectangle 50"/>
          <p:cNvSpPr/>
          <p:nvPr/>
        </p:nvSpPr>
        <p:spPr>
          <a:xfrm>
            <a:off x="5166360" y="2331720"/>
            <a:ext cx="2057040" cy="1599840"/>
          </a:xfrm>
          <a:prstGeom prst="rect">
            <a:avLst/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51"/>
          <p:cNvSpPr/>
          <p:nvPr/>
        </p:nvSpPr>
        <p:spPr>
          <a:xfrm>
            <a:off x="5330880" y="254196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DC9A7"/>
                </a:solidFill>
                <a:effectLst/>
                <a:uFillTx/>
                <a:latin typeface="Aptos"/>
              </a:rPr>
              <a:t>03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52"/>
          <p:cNvSpPr/>
          <p:nvPr/>
        </p:nvSpPr>
        <p:spPr>
          <a:xfrm>
            <a:off x="5330880" y="288036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Requirement Mapping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53"/>
          <p:cNvSpPr/>
          <p:nvPr/>
        </p:nvSpPr>
        <p:spPr>
          <a:xfrm>
            <a:off x="5330880" y="331020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ICH M4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54"/>
          <p:cNvSpPr/>
          <p:nvPr/>
        </p:nvSpPr>
        <p:spPr>
          <a:xfrm>
            <a:off x="7242120" y="2853000"/>
            <a:ext cx="228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DC9A7"/>
                </a:solidFill>
                <a:effectLst/>
                <a:uFillTx/>
                <a:latin typeface="Aptos"/>
              </a:rPr>
              <a:t>→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Rectangle 55"/>
          <p:cNvSpPr/>
          <p:nvPr/>
        </p:nvSpPr>
        <p:spPr>
          <a:xfrm>
            <a:off x="7498080" y="2331720"/>
            <a:ext cx="2057040" cy="1599840"/>
          </a:xfrm>
          <a:prstGeom prst="rect">
            <a:avLst/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Box 56"/>
          <p:cNvSpPr/>
          <p:nvPr/>
        </p:nvSpPr>
        <p:spPr>
          <a:xfrm>
            <a:off x="7662600" y="254196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DC9A7"/>
                </a:solidFill>
                <a:effectLst/>
                <a:uFillTx/>
                <a:latin typeface="Aptos"/>
              </a:rPr>
              <a:t>04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57"/>
          <p:cNvSpPr/>
          <p:nvPr/>
        </p:nvSpPr>
        <p:spPr>
          <a:xfrm>
            <a:off x="7662600" y="288036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Gap Detection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58"/>
          <p:cNvSpPr/>
          <p:nvPr/>
        </p:nvSpPr>
        <p:spPr>
          <a:xfrm>
            <a:off x="7662600" y="331020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Missing / incomplete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59"/>
          <p:cNvSpPr/>
          <p:nvPr/>
        </p:nvSpPr>
        <p:spPr>
          <a:xfrm>
            <a:off x="9573840" y="2853000"/>
            <a:ext cx="228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DC9A7"/>
                </a:solidFill>
                <a:effectLst/>
                <a:uFillTx/>
                <a:latin typeface="Aptos"/>
              </a:rPr>
              <a:t>→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Rectangle 60"/>
          <p:cNvSpPr/>
          <p:nvPr/>
        </p:nvSpPr>
        <p:spPr>
          <a:xfrm>
            <a:off x="9829800" y="2331720"/>
            <a:ext cx="2057040" cy="1599840"/>
          </a:xfrm>
          <a:prstGeom prst="rect">
            <a:avLst/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Box 61"/>
          <p:cNvSpPr/>
          <p:nvPr/>
        </p:nvSpPr>
        <p:spPr>
          <a:xfrm>
            <a:off x="9994320" y="254196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DC9A7"/>
                </a:solidFill>
                <a:effectLst/>
                <a:uFillTx/>
                <a:latin typeface="Aptos"/>
              </a:rPr>
              <a:t>05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62"/>
          <p:cNvSpPr/>
          <p:nvPr/>
        </p:nvSpPr>
        <p:spPr>
          <a:xfrm>
            <a:off x="9994320" y="288036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Score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63"/>
          <p:cNvSpPr/>
          <p:nvPr/>
        </p:nvSpPr>
        <p:spPr>
          <a:xfrm>
            <a:off x="9994320" y="331020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Module readiness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Rectangle 64"/>
          <p:cNvSpPr/>
          <p:nvPr/>
        </p:nvSpPr>
        <p:spPr>
          <a:xfrm>
            <a:off x="731520" y="4389120"/>
            <a:ext cx="10560960" cy="1096920"/>
          </a:xfrm>
          <a:prstGeom prst="rect">
            <a:avLst/>
          </a:prstGeom>
          <a:solidFill>
            <a:srgbClr val="1D304C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TextBox 65"/>
          <p:cNvSpPr/>
          <p:nvPr/>
        </p:nvSpPr>
        <p:spPr>
          <a:xfrm>
            <a:off x="960120" y="4755240"/>
            <a:ext cx="776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Output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66"/>
          <p:cNvSpPr/>
          <p:nvPr/>
        </p:nvSpPr>
        <p:spPr>
          <a:xfrm>
            <a:off x="1874520" y="4645440"/>
            <a:ext cx="8823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Module-level completeness • detected gaps • remediation focus • reviewer-oriented summary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36D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TextBox 5"/>
          <p:cNvSpPr/>
          <p:nvPr/>
        </p:nvSpPr>
        <p:spPr>
          <a:xfrm>
            <a:off x="640080" y="71316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07 — DEMO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6"/>
          <p:cNvSpPr/>
          <p:nvPr/>
        </p:nvSpPr>
        <p:spPr>
          <a:xfrm>
            <a:off x="640080" y="1024200"/>
            <a:ext cx="10789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Product walkthrough: from data to insight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7"/>
          <p:cNvSpPr/>
          <p:nvPr/>
        </p:nvSpPr>
        <p:spPr>
          <a:xfrm>
            <a:off x="640080" y="166428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Real interface screens from the deployed prototype.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Rounded Rectangle 8"/>
          <p:cNvSpPr/>
          <p:nvPr/>
        </p:nvSpPr>
        <p:spPr>
          <a:xfrm>
            <a:off x="502920" y="2240280"/>
            <a:ext cx="3611520" cy="3337200"/>
          </a:xfrm>
          <a:prstGeom prst="roundRect">
            <a:avLst>
              <a:gd name="adj" fmla="val 16667"/>
            </a:avLst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TextBox 10"/>
          <p:cNvSpPr/>
          <p:nvPr/>
        </p:nvSpPr>
        <p:spPr>
          <a:xfrm>
            <a:off x="667440" y="514800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Dashboard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Rounded Rectangle 11"/>
          <p:cNvSpPr/>
          <p:nvPr/>
        </p:nvSpPr>
        <p:spPr>
          <a:xfrm>
            <a:off x="4160520" y="2240280"/>
            <a:ext cx="3611520" cy="3337200"/>
          </a:xfrm>
          <a:prstGeom prst="roundRect">
            <a:avLst>
              <a:gd name="adj" fmla="val 16667"/>
            </a:avLst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Box 13"/>
          <p:cNvSpPr/>
          <p:nvPr/>
        </p:nvSpPr>
        <p:spPr>
          <a:xfrm>
            <a:off x="4325040" y="514800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Signal Analysis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Rounded Rectangle 14"/>
          <p:cNvSpPr/>
          <p:nvPr/>
        </p:nvSpPr>
        <p:spPr>
          <a:xfrm>
            <a:off x="7818120" y="2240280"/>
            <a:ext cx="3611520" cy="3337200"/>
          </a:xfrm>
          <a:prstGeom prst="roundRect">
            <a:avLst>
              <a:gd name="adj" fmla="val 16667"/>
            </a:avLst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TextBox 16"/>
          <p:cNvSpPr/>
          <p:nvPr/>
        </p:nvSpPr>
        <p:spPr>
          <a:xfrm>
            <a:off x="7982640" y="514800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Gap Detection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17"/>
          <p:cNvSpPr/>
          <p:nvPr/>
        </p:nvSpPr>
        <p:spPr>
          <a:xfrm>
            <a:off x="1097280" y="5897880"/>
            <a:ext cx="9966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Demo screens show the actual application workflow and UI; demo data is intentionally limited and fictional.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18"/>
          <p:cNvSpPr/>
          <p:nvPr/>
        </p:nvSpPr>
        <p:spPr>
          <a:xfrm>
            <a:off x="502920" y="645552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Team PharmaNex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19"/>
          <p:cNvSpPr/>
          <p:nvPr/>
        </p:nvSpPr>
        <p:spPr>
          <a:xfrm>
            <a:off x="11201400" y="6455520"/>
            <a:ext cx="456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Rectangle 20"/>
          <p:cNvSpPr/>
          <p:nvPr/>
        </p:nvSpPr>
        <p:spPr>
          <a:xfrm>
            <a:off x="411480" y="100440"/>
            <a:ext cx="2194200" cy="383760"/>
          </a:xfrm>
          <a:prstGeom prst="rect">
            <a:avLst/>
          </a:prstGeom>
          <a:solidFill>
            <a:srgbClr val="0A1220"/>
          </a:solidFill>
          <a:ln w="12700">
            <a:solidFill>
              <a:srgbClr val="0A12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Box 21"/>
          <p:cNvSpPr/>
          <p:nvPr/>
        </p:nvSpPr>
        <p:spPr>
          <a:xfrm>
            <a:off x="502920" y="15552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PharmaGuard AI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Rectangle 22"/>
          <p:cNvSpPr/>
          <p:nvPr/>
        </p:nvSpPr>
        <p:spPr>
          <a:xfrm>
            <a:off x="502920" y="2240280"/>
            <a:ext cx="3611520" cy="3337200"/>
          </a:xfrm>
          <a:prstGeom prst="rect">
            <a:avLst/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74" name="Picture 23" descr="image.png"/>
          <p:cNvPicPr/>
          <p:nvPr/>
        </p:nvPicPr>
        <p:blipFill>
          <a:blip r:embed="rId1"/>
          <a:stretch/>
        </p:blipFill>
        <p:spPr>
          <a:xfrm>
            <a:off x="750240" y="2395800"/>
            <a:ext cx="3117240" cy="248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TextBox 24"/>
          <p:cNvSpPr/>
          <p:nvPr/>
        </p:nvSpPr>
        <p:spPr>
          <a:xfrm>
            <a:off x="640080" y="5102280"/>
            <a:ext cx="3337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Dashboard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Rectangle 25"/>
          <p:cNvSpPr/>
          <p:nvPr/>
        </p:nvSpPr>
        <p:spPr>
          <a:xfrm>
            <a:off x="4160520" y="2240280"/>
            <a:ext cx="3611520" cy="3337200"/>
          </a:xfrm>
          <a:prstGeom prst="rect">
            <a:avLst/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77" name="Picture 26" descr="image.png"/>
          <p:cNvPicPr/>
          <p:nvPr/>
        </p:nvPicPr>
        <p:blipFill>
          <a:blip r:embed="rId2"/>
          <a:stretch/>
        </p:blipFill>
        <p:spPr>
          <a:xfrm>
            <a:off x="4270320" y="2504880"/>
            <a:ext cx="3391920" cy="22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8" name="TextBox 27"/>
          <p:cNvSpPr/>
          <p:nvPr/>
        </p:nvSpPr>
        <p:spPr>
          <a:xfrm>
            <a:off x="4297680" y="5102280"/>
            <a:ext cx="3337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Signal Analysis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Rectangle 28"/>
          <p:cNvSpPr/>
          <p:nvPr/>
        </p:nvSpPr>
        <p:spPr>
          <a:xfrm>
            <a:off x="7818120" y="2240280"/>
            <a:ext cx="3611520" cy="3337200"/>
          </a:xfrm>
          <a:prstGeom prst="rect">
            <a:avLst/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80" name="Picture 29" descr="image.png"/>
          <p:cNvPicPr/>
          <p:nvPr/>
        </p:nvPicPr>
        <p:blipFill>
          <a:blip r:embed="rId3"/>
          <a:stretch/>
        </p:blipFill>
        <p:spPr>
          <a:xfrm>
            <a:off x="7927920" y="2504880"/>
            <a:ext cx="3391920" cy="22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TextBox 30"/>
          <p:cNvSpPr/>
          <p:nvPr/>
        </p:nvSpPr>
        <p:spPr>
          <a:xfrm>
            <a:off x="7955280" y="5102280"/>
            <a:ext cx="3337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Gap Detection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36D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Box 36"/>
          <p:cNvSpPr/>
          <p:nvPr/>
        </p:nvSpPr>
        <p:spPr>
          <a:xfrm>
            <a:off x="502920" y="645552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Team PharmaNex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37"/>
          <p:cNvSpPr/>
          <p:nvPr/>
        </p:nvSpPr>
        <p:spPr>
          <a:xfrm>
            <a:off x="11201400" y="6455520"/>
            <a:ext cx="456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Rectangle 38"/>
          <p:cNvSpPr/>
          <p:nvPr/>
        </p:nvSpPr>
        <p:spPr>
          <a:xfrm>
            <a:off x="411480" y="100440"/>
            <a:ext cx="2194200" cy="383760"/>
          </a:xfrm>
          <a:prstGeom prst="rect">
            <a:avLst/>
          </a:prstGeom>
          <a:solidFill>
            <a:srgbClr val="0A1220"/>
          </a:solidFill>
          <a:ln w="12700">
            <a:solidFill>
              <a:srgbClr val="0A12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TextBox 39"/>
          <p:cNvSpPr/>
          <p:nvPr/>
        </p:nvSpPr>
        <p:spPr>
          <a:xfrm>
            <a:off x="502920" y="15552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PharmaGuard AI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40"/>
          <p:cNvSpPr/>
          <p:nvPr/>
        </p:nvSpPr>
        <p:spPr>
          <a:xfrm>
            <a:off x="640080" y="71316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08 — Architecture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41"/>
          <p:cNvSpPr/>
          <p:nvPr/>
        </p:nvSpPr>
        <p:spPr>
          <a:xfrm>
            <a:off x="640080" y="1024200"/>
            <a:ext cx="10789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Technical architecture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42"/>
          <p:cNvSpPr/>
          <p:nvPr/>
        </p:nvSpPr>
        <p:spPr>
          <a:xfrm>
            <a:off x="640080" y="166428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A web application with a React frontend, FastAPI backend, persistence, document handling, and deployment tooling.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Rectangle 43"/>
          <p:cNvSpPr/>
          <p:nvPr/>
        </p:nvSpPr>
        <p:spPr>
          <a:xfrm>
            <a:off x="640080" y="2331720"/>
            <a:ext cx="2331360" cy="1051200"/>
          </a:xfrm>
          <a:prstGeom prst="rect">
            <a:avLst/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1" name="TextBox 44"/>
          <p:cNvSpPr/>
          <p:nvPr/>
        </p:nvSpPr>
        <p:spPr>
          <a:xfrm>
            <a:off x="804600" y="2532960"/>
            <a:ext cx="2011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USER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45"/>
          <p:cNvSpPr/>
          <p:nvPr/>
        </p:nvSpPr>
        <p:spPr>
          <a:xfrm>
            <a:off x="804600" y="288036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Reviewer / analyst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Rectangle 46"/>
          <p:cNvSpPr/>
          <p:nvPr/>
        </p:nvSpPr>
        <p:spPr>
          <a:xfrm>
            <a:off x="3383280" y="2331720"/>
            <a:ext cx="2331360" cy="1051200"/>
          </a:xfrm>
          <a:prstGeom prst="rect">
            <a:avLst/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4" name="TextBox 47"/>
          <p:cNvSpPr/>
          <p:nvPr/>
        </p:nvSpPr>
        <p:spPr>
          <a:xfrm>
            <a:off x="3547800" y="2532960"/>
            <a:ext cx="2011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FRONTEND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48"/>
          <p:cNvSpPr/>
          <p:nvPr/>
        </p:nvSpPr>
        <p:spPr>
          <a:xfrm>
            <a:off x="3547800" y="288036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React + Vite + TypeScript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Rectangle 49"/>
          <p:cNvSpPr/>
          <p:nvPr/>
        </p:nvSpPr>
        <p:spPr>
          <a:xfrm>
            <a:off x="6400800" y="2331720"/>
            <a:ext cx="2331360" cy="1051200"/>
          </a:xfrm>
          <a:prstGeom prst="rect">
            <a:avLst/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7" name="TextBox 50"/>
          <p:cNvSpPr/>
          <p:nvPr/>
        </p:nvSpPr>
        <p:spPr>
          <a:xfrm>
            <a:off x="6565320" y="2532960"/>
            <a:ext cx="2011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DC9A7"/>
                </a:solidFill>
                <a:effectLst/>
                <a:uFillTx/>
                <a:latin typeface="Aptos"/>
              </a:rPr>
              <a:t>BACKEND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51"/>
          <p:cNvSpPr/>
          <p:nvPr/>
        </p:nvSpPr>
        <p:spPr>
          <a:xfrm>
            <a:off x="6565320" y="288036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FastAPI + routes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Rectangle 52"/>
          <p:cNvSpPr/>
          <p:nvPr/>
        </p:nvSpPr>
        <p:spPr>
          <a:xfrm>
            <a:off x="9144000" y="2331720"/>
            <a:ext cx="2331360" cy="1051200"/>
          </a:xfrm>
          <a:prstGeom prst="rect">
            <a:avLst/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0" name="TextBox 53"/>
          <p:cNvSpPr/>
          <p:nvPr/>
        </p:nvSpPr>
        <p:spPr>
          <a:xfrm>
            <a:off x="9308520" y="2532960"/>
            <a:ext cx="2011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DC9A7"/>
                </a:solidFill>
                <a:effectLst/>
                <a:uFillTx/>
                <a:latin typeface="Aptos"/>
              </a:rPr>
              <a:t>DATA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54"/>
          <p:cNvSpPr/>
          <p:nvPr/>
        </p:nvSpPr>
        <p:spPr>
          <a:xfrm>
            <a:off x="9308520" y="288036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Database + storage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55"/>
          <p:cNvSpPr/>
          <p:nvPr/>
        </p:nvSpPr>
        <p:spPr>
          <a:xfrm>
            <a:off x="3063240" y="2633400"/>
            <a:ext cx="25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→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56"/>
          <p:cNvSpPr/>
          <p:nvPr/>
        </p:nvSpPr>
        <p:spPr>
          <a:xfrm>
            <a:off x="6080760" y="2633400"/>
            <a:ext cx="25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→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57"/>
          <p:cNvSpPr/>
          <p:nvPr/>
        </p:nvSpPr>
        <p:spPr>
          <a:xfrm>
            <a:off x="8823960" y="2633400"/>
            <a:ext cx="25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→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Rectangle 58"/>
          <p:cNvSpPr/>
          <p:nvPr/>
        </p:nvSpPr>
        <p:spPr>
          <a:xfrm>
            <a:off x="640080" y="3977640"/>
            <a:ext cx="5074560" cy="694440"/>
          </a:xfrm>
          <a:prstGeom prst="rect">
            <a:avLst/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6" name="TextBox 59"/>
          <p:cNvSpPr/>
          <p:nvPr/>
        </p:nvSpPr>
        <p:spPr>
          <a:xfrm>
            <a:off x="822960" y="4114800"/>
            <a:ext cx="1599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Auth &amp; ownership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60"/>
          <p:cNvSpPr/>
          <p:nvPr/>
        </p:nvSpPr>
        <p:spPr>
          <a:xfrm>
            <a:off x="2514600" y="4096440"/>
            <a:ext cx="2925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Protected routes and user access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Rectangle 61"/>
          <p:cNvSpPr/>
          <p:nvPr/>
        </p:nvSpPr>
        <p:spPr>
          <a:xfrm>
            <a:off x="6126480" y="3977640"/>
            <a:ext cx="5074560" cy="694440"/>
          </a:xfrm>
          <a:prstGeom prst="rect">
            <a:avLst/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9" name="TextBox 62"/>
          <p:cNvSpPr/>
          <p:nvPr/>
        </p:nvSpPr>
        <p:spPr>
          <a:xfrm>
            <a:off x="6309360" y="4114800"/>
            <a:ext cx="1599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Signal services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63"/>
          <p:cNvSpPr/>
          <p:nvPr/>
        </p:nvSpPr>
        <p:spPr>
          <a:xfrm>
            <a:off x="8001000" y="4096440"/>
            <a:ext cx="2925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Adverse-event analysis and metrics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Rectangle 64"/>
          <p:cNvSpPr/>
          <p:nvPr/>
        </p:nvSpPr>
        <p:spPr>
          <a:xfrm>
            <a:off x="640080" y="4873680"/>
            <a:ext cx="5074560" cy="694440"/>
          </a:xfrm>
          <a:prstGeom prst="rect">
            <a:avLst/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Box 65"/>
          <p:cNvSpPr/>
          <p:nvPr/>
        </p:nvSpPr>
        <p:spPr>
          <a:xfrm>
            <a:off x="822960" y="5010840"/>
            <a:ext cx="1599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Document services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66"/>
          <p:cNvSpPr/>
          <p:nvPr/>
        </p:nvSpPr>
        <p:spPr>
          <a:xfrm>
            <a:off x="2514600" y="4992480"/>
            <a:ext cx="2925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Upload and CTD workflow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Rectangle 67"/>
          <p:cNvSpPr/>
          <p:nvPr/>
        </p:nvSpPr>
        <p:spPr>
          <a:xfrm>
            <a:off x="6126480" y="4873680"/>
            <a:ext cx="5074560" cy="694440"/>
          </a:xfrm>
          <a:prstGeom prst="rect">
            <a:avLst/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5" name="TextBox 68"/>
          <p:cNvSpPr/>
          <p:nvPr/>
        </p:nvSpPr>
        <p:spPr>
          <a:xfrm>
            <a:off x="6309360" y="5010840"/>
            <a:ext cx="1599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Reports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69"/>
          <p:cNvSpPr/>
          <p:nvPr/>
        </p:nvSpPr>
        <p:spPr>
          <a:xfrm>
            <a:off x="8001000" y="4992480"/>
            <a:ext cx="2925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Structured reviewer outputs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70"/>
          <p:cNvSpPr/>
          <p:nvPr/>
        </p:nvSpPr>
        <p:spPr>
          <a:xfrm>
            <a:off x="914400" y="58978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Containerization + deployment configuration support reproducible local and hosted environments.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36D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9" name="TextBox 27"/>
          <p:cNvSpPr/>
          <p:nvPr/>
        </p:nvSpPr>
        <p:spPr>
          <a:xfrm>
            <a:off x="502920" y="645552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Team PharmaNex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28"/>
          <p:cNvSpPr/>
          <p:nvPr/>
        </p:nvSpPr>
        <p:spPr>
          <a:xfrm>
            <a:off x="11201400" y="6455520"/>
            <a:ext cx="456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Rectangle 29"/>
          <p:cNvSpPr/>
          <p:nvPr/>
        </p:nvSpPr>
        <p:spPr>
          <a:xfrm>
            <a:off x="411480" y="100440"/>
            <a:ext cx="2194200" cy="383760"/>
          </a:xfrm>
          <a:prstGeom prst="rect">
            <a:avLst/>
          </a:prstGeom>
          <a:solidFill>
            <a:srgbClr val="0A1220"/>
          </a:solidFill>
          <a:ln w="12700">
            <a:solidFill>
              <a:srgbClr val="0A12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2" name="TextBox 30"/>
          <p:cNvSpPr/>
          <p:nvPr/>
        </p:nvSpPr>
        <p:spPr>
          <a:xfrm>
            <a:off x="502920" y="15552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PharmaGuard AI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31"/>
          <p:cNvSpPr/>
          <p:nvPr/>
        </p:nvSpPr>
        <p:spPr>
          <a:xfrm>
            <a:off x="640080" y="71316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09 — IBM Technology Integration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Box 32"/>
          <p:cNvSpPr/>
          <p:nvPr/>
        </p:nvSpPr>
        <p:spPr>
          <a:xfrm>
            <a:off x="640080" y="1024200"/>
            <a:ext cx="10789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IBM Bob is a core part of the build workflow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33"/>
          <p:cNvSpPr/>
          <p:nvPr/>
        </p:nvSpPr>
        <p:spPr>
          <a:xfrm>
            <a:off x="640080" y="166428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The hackathon requirement is addressed by using IBM Bob IDE as a core development component.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Rectangle 34"/>
          <p:cNvSpPr/>
          <p:nvPr/>
        </p:nvSpPr>
        <p:spPr>
          <a:xfrm>
            <a:off x="685800" y="2331720"/>
            <a:ext cx="3657240" cy="3245760"/>
          </a:xfrm>
          <a:prstGeom prst="rect">
            <a:avLst/>
          </a:prstGeom>
          <a:solidFill>
            <a:srgbClr val="1D304C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7" name="TextBox 35"/>
          <p:cNvSpPr/>
          <p:nvPr/>
        </p:nvSpPr>
        <p:spPr>
          <a:xfrm>
            <a:off x="960120" y="267012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IBM BOB IDE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Box 36"/>
          <p:cNvSpPr/>
          <p:nvPr/>
        </p:nvSpPr>
        <p:spPr>
          <a:xfrm>
            <a:off x="960120" y="315468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Core development environment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37"/>
          <p:cNvSpPr/>
          <p:nvPr/>
        </p:nvSpPr>
        <p:spPr>
          <a:xfrm>
            <a:off x="960120" y="3703320"/>
            <a:ext cx="30628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• Used to develop and iterate on the application.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38"/>
          <p:cNvSpPr/>
          <p:nvPr/>
        </p:nvSpPr>
        <p:spPr>
          <a:xfrm>
            <a:off x="960120" y="4224600"/>
            <a:ext cx="30628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• Supports AI-assisted implementation across the project workflow.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39"/>
          <p:cNvSpPr/>
          <p:nvPr/>
        </p:nvSpPr>
        <p:spPr>
          <a:xfrm>
            <a:off x="960120" y="4745880"/>
            <a:ext cx="30628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• Relevant Bob task/session reports can be included in the submission repository.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Rectangle 40"/>
          <p:cNvSpPr/>
          <p:nvPr/>
        </p:nvSpPr>
        <p:spPr>
          <a:xfrm>
            <a:off x="4617720" y="2331720"/>
            <a:ext cx="6811920" cy="3245760"/>
          </a:xfrm>
          <a:prstGeom prst="rect">
            <a:avLst/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TextBox 41"/>
          <p:cNvSpPr/>
          <p:nvPr/>
        </p:nvSpPr>
        <p:spPr>
          <a:xfrm>
            <a:off x="4919400" y="267012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DC9A7"/>
                </a:solidFill>
                <a:effectLst/>
                <a:uFillTx/>
                <a:latin typeface="Aptos"/>
              </a:rPr>
              <a:t>WHERE BOB FITS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42"/>
          <p:cNvSpPr/>
          <p:nvPr/>
        </p:nvSpPr>
        <p:spPr>
          <a:xfrm>
            <a:off x="4937760" y="30632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43"/>
          <p:cNvSpPr/>
          <p:nvPr/>
        </p:nvSpPr>
        <p:spPr>
          <a:xfrm>
            <a:off x="5349240" y="30632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Plan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Box 44"/>
          <p:cNvSpPr/>
          <p:nvPr/>
        </p:nvSpPr>
        <p:spPr>
          <a:xfrm>
            <a:off x="6263640" y="306324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Translate challenge requirements into implementation tasks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45"/>
          <p:cNvSpPr/>
          <p:nvPr/>
        </p:nvSpPr>
        <p:spPr>
          <a:xfrm>
            <a:off x="4937760" y="36302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46"/>
          <p:cNvSpPr/>
          <p:nvPr/>
        </p:nvSpPr>
        <p:spPr>
          <a:xfrm>
            <a:off x="5349240" y="36302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Build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47"/>
          <p:cNvSpPr/>
          <p:nvPr/>
        </p:nvSpPr>
        <p:spPr>
          <a:xfrm>
            <a:off x="6263640" y="363024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Generate and refine frontend/backend components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48"/>
          <p:cNvSpPr/>
          <p:nvPr/>
        </p:nvSpPr>
        <p:spPr>
          <a:xfrm>
            <a:off x="4937760" y="419724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Box 49"/>
          <p:cNvSpPr/>
          <p:nvPr/>
        </p:nvSpPr>
        <p:spPr>
          <a:xfrm>
            <a:off x="5349240" y="41972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Validate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Box 50"/>
          <p:cNvSpPr/>
          <p:nvPr/>
        </p:nvSpPr>
        <p:spPr>
          <a:xfrm>
            <a:off x="6263640" y="419724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Iterate on workflows, tests, and integration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51"/>
          <p:cNvSpPr/>
          <p:nvPr/>
        </p:nvSpPr>
        <p:spPr>
          <a:xfrm>
            <a:off x="4937760" y="47638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52"/>
          <p:cNvSpPr/>
          <p:nvPr/>
        </p:nvSpPr>
        <p:spPr>
          <a:xfrm>
            <a:off x="5349240" y="47638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Document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53"/>
          <p:cNvSpPr/>
          <p:nvPr/>
        </p:nvSpPr>
        <p:spPr>
          <a:xfrm>
            <a:off x="6263640" y="476388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Prepare reproducible setup and submission artifacts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54"/>
          <p:cNvSpPr/>
          <p:nvPr/>
        </p:nvSpPr>
        <p:spPr>
          <a:xfrm>
            <a:off x="868680" y="58978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No unsupported watsonx claim is made here; the deck highlights the IBM Bob integration used for this project.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36D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TextBox 5"/>
          <p:cNvSpPr/>
          <p:nvPr/>
        </p:nvSpPr>
        <p:spPr>
          <a:xfrm>
            <a:off x="640080" y="71316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10 — DEMO NARRATIVE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6"/>
          <p:cNvSpPr/>
          <p:nvPr/>
        </p:nvSpPr>
        <p:spPr>
          <a:xfrm>
            <a:off x="640080" y="1024200"/>
            <a:ext cx="10789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A judge should understand the value in 90 seconds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7"/>
          <p:cNvSpPr/>
          <p:nvPr/>
        </p:nvSpPr>
        <p:spPr>
          <a:xfrm>
            <a:off x="640080" y="166428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Suggested live-demo sequence for the final presentation.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Rounded Rectangle 8"/>
          <p:cNvSpPr/>
          <p:nvPr/>
        </p:nvSpPr>
        <p:spPr>
          <a:xfrm>
            <a:off x="640080" y="2240280"/>
            <a:ext cx="5074560" cy="895680"/>
          </a:xfrm>
          <a:prstGeom prst="roundRect">
            <a:avLst>
              <a:gd name="adj" fmla="val 16667"/>
            </a:avLst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2" name="TextBox 9"/>
          <p:cNvSpPr/>
          <p:nvPr/>
        </p:nvSpPr>
        <p:spPr>
          <a:xfrm>
            <a:off x="804600" y="24415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01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10"/>
          <p:cNvSpPr/>
          <p:nvPr/>
        </p:nvSpPr>
        <p:spPr>
          <a:xfrm>
            <a:off x="1325880" y="237744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Open dashboard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11"/>
          <p:cNvSpPr/>
          <p:nvPr/>
        </p:nvSpPr>
        <p:spPr>
          <a:xfrm>
            <a:off x="2971800" y="2359080"/>
            <a:ext cx="2514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Show the unified safety + regulatory workspace.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Rounded Rectangle 12"/>
          <p:cNvSpPr/>
          <p:nvPr/>
        </p:nvSpPr>
        <p:spPr>
          <a:xfrm>
            <a:off x="6126480" y="2240280"/>
            <a:ext cx="5074560" cy="895680"/>
          </a:xfrm>
          <a:prstGeom prst="roundRect">
            <a:avLst>
              <a:gd name="adj" fmla="val 16667"/>
            </a:avLst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6" name="TextBox 13"/>
          <p:cNvSpPr/>
          <p:nvPr/>
        </p:nvSpPr>
        <p:spPr>
          <a:xfrm>
            <a:off x="6291000" y="24415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DC9A7"/>
                </a:solidFill>
                <a:effectLst/>
                <a:uFillTx/>
                <a:latin typeface="Aptos"/>
              </a:rPr>
              <a:t>02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Box 14"/>
          <p:cNvSpPr/>
          <p:nvPr/>
        </p:nvSpPr>
        <p:spPr>
          <a:xfrm>
            <a:off x="6812280" y="237744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Load adverse events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15"/>
          <p:cNvSpPr/>
          <p:nvPr/>
        </p:nvSpPr>
        <p:spPr>
          <a:xfrm>
            <a:off x="8458200" y="2359080"/>
            <a:ext cx="2514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Show structured records and the analysis entry point.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Rounded Rectangle 16"/>
          <p:cNvSpPr/>
          <p:nvPr/>
        </p:nvSpPr>
        <p:spPr>
          <a:xfrm>
            <a:off x="640080" y="3355920"/>
            <a:ext cx="5074560" cy="895680"/>
          </a:xfrm>
          <a:prstGeom prst="roundRect">
            <a:avLst>
              <a:gd name="adj" fmla="val 16667"/>
            </a:avLst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0" name="TextBox 17"/>
          <p:cNvSpPr/>
          <p:nvPr/>
        </p:nvSpPr>
        <p:spPr>
          <a:xfrm>
            <a:off x="804600" y="35571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03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Box 18"/>
          <p:cNvSpPr/>
          <p:nvPr/>
        </p:nvSpPr>
        <p:spPr>
          <a:xfrm>
            <a:off x="1325880" y="349308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Run signal analysis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Box 19"/>
          <p:cNvSpPr/>
          <p:nvPr/>
        </p:nvSpPr>
        <p:spPr>
          <a:xfrm>
            <a:off x="2971800" y="3474720"/>
            <a:ext cx="2514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Explain PRR/ROR and the potential-signal framing.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Rounded Rectangle 20"/>
          <p:cNvSpPr/>
          <p:nvPr/>
        </p:nvSpPr>
        <p:spPr>
          <a:xfrm>
            <a:off x="6126480" y="3355920"/>
            <a:ext cx="5074560" cy="895680"/>
          </a:xfrm>
          <a:prstGeom prst="roundRect">
            <a:avLst>
              <a:gd name="adj" fmla="val 16667"/>
            </a:avLst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4" name="TextBox 21"/>
          <p:cNvSpPr/>
          <p:nvPr/>
        </p:nvSpPr>
        <p:spPr>
          <a:xfrm>
            <a:off x="6291000" y="35571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DC9A7"/>
                </a:solidFill>
                <a:effectLst/>
                <a:uFillTx/>
                <a:latin typeface="Aptos"/>
              </a:rPr>
              <a:t>04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22"/>
          <p:cNvSpPr/>
          <p:nvPr/>
        </p:nvSpPr>
        <p:spPr>
          <a:xfrm>
            <a:off x="6812280" y="349308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Upload CTD material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Box 23"/>
          <p:cNvSpPr/>
          <p:nvPr/>
        </p:nvSpPr>
        <p:spPr>
          <a:xfrm>
            <a:off x="8458200" y="3474720"/>
            <a:ext cx="2514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Show the document intake workflow.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Rounded Rectangle 24"/>
          <p:cNvSpPr/>
          <p:nvPr/>
        </p:nvSpPr>
        <p:spPr>
          <a:xfrm>
            <a:off x="640080" y="4471560"/>
            <a:ext cx="5074560" cy="895680"/>
          </a:xfrm>
          <a:prstGeom prst="roundRect">
            <a:avLst>
              <a:gd name="adj" fmla="val 16667"/>
            </a:avLst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8" name="TextBox 25"/>
          <p:cNvSpPr/>
          <p:nvPr/>
        </p:nvSpPr>
        <p:spPr>
          <a:xfrm>
            <a:off x="804600" y="46724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05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Box 26"/>
          <p:cNvSpPr/>
          <p:nvPr/>
        </p:nvSpPr>
        <p:spPr>
          <a:xfrm>
            <a:off x="1325880" y="460872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Run gap detection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Box 27"/>
          <p:cNvSpPr/>
          <p:nvPr/>
        </p:nvSpPr>
        <p:spPr>
          <a:xfrm>
            <a:off x="2971800" y="4590360"/>
            <a:ext cx="2514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Show requirement mapping and readiness findings.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Rounded Rectangle 28"/>
          <p:cNvSpPr/>
          <p:nvPr/>
        </p:nvSpPr>
        <p:spPr>
          <a:xfrm>
            <a:off x="6126480" y="4471560"/>
            <a:ext cx="5074560" cy="895680"/>
          </a:xfrm>
          <a:prstGeom prst="roundRect">
            <a:avLst>
              <a:gd name="adj" fmla="val 16667"/>
            </a:avLst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2" name="TextBox 29"/>
          <p:cNvSpPr/>
          <p:nvPr/>
        </p:nvSpPr>
        <p:spPr>
          <a:xfrm>
            <a:off x="6291000" y="46724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DC9A7"/>
                </a:solidFill>
                <a:effectLst/>
                <a:uFillTx/>
                <a:latin typeface="Aptos"/>
              </a:rPr>
              <a:t>06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Box 30"/>
          <p:cNvSpPr/>
          <p:nvPr/>
        </p:nvSpPr>
        <p:spPr>
          <a:xfrm>
            <a:off x="6812280" y="460872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Close with impact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Box 31"/>
          <p:cNvSpPr/>
          <p:nvPr/>
        </p:nvSpPr>
        <p:spPr>
          <a:xfrm>
            <a:off x="8458200" y="4590360"/>
            <a:ext cx="2514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Explain how the same workflow scales with richer datasets.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33"/>
          <p:cNvSpPr/>
          <p:nvPr/>
        </p:nvSpPr>
        <p:spPr>
          <a:xfrm>
            <a:off x="502920" y="645552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Team PharmaNex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Box 34"/>
          <p:cNvSpPr/>
          <p:nvPr/>
        </p:nvSpPr>
        <p:spPr>
          <a:xfrm>
            <a:off x="11201400" y="6455520"/>
            <a:ext cx="456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11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Rectangle 35"/>
          <p:cNvSpPr/>
          <p:nvPr/>
        </p:nvSpPr>
        <p:spPr>
          <a:xfrm>
            <a:off x="411480" y="100440"/>
            <a:ext cx="2194200" cy="383760"/>
          </a:xfrm>
          <a:prstGeom prst="rect">
            <a:avLst/>
          </a:prstGeom>
          <a:solidFill>
            <a:srgbClr val="0A1220"/>
          </a:solidFill>
          <a:ln w="12700">
            <a:solidFill>
              <a:srgbClr val="0A12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8" name="TextBox 36"/>
          <p:cNvSpPr/>
          <p:nvPr/>
        </p:nvSpPr>
        <p:spPr>
          <a:xfrm>
            <a:off x="502920" y="15552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PharmaGuard AI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36D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0" name="TextBox 5"/>
          <p:cNvSpPr/>
          <p:nvPr/>
        </p:nvSpPr>
        <p:spPr>
          <a:xfrm>
            <a:off x="640080" y="71316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11 — IMPACT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Box 6"/>
          <p:cNvSpPr/>
          <p:nvPr/>
        </p:nvSpPr>
        <p:spPr>
          <a:xfrm>
            <a:off x="640080" y="1024200"/>
            <a:ext cx="10789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Beyond the hackathon: a scalable safety &amp; regulatory co-pilot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7"/>
          <p:cNvSpPr/>
          <p:nvPr/>
        </p:nvSpPr>
        <p:spPr>
          <a:xfrm>
            <a:off x="640080" y="166428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The prototype establishes a foundation for a broader evidence-to-action workflow.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Rounded Rectangle 8"/>
          <p:cNvSpPr/>
          <p:nvPr/>
        </p:nvSpPr>
        <p:spPr>
          <a:xfrm>
            <a:off x="640080" y="2331720"/>
            <a:ext cx="3245760" cy="2605680"/>
          </a:xfrm>
          <a:prstGeom prst="roundRect">
            <a:avLst>
              <a:gd name="adj" fmla="val 7169"/>
            </a:avLst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4" name="TextBox 9"/>
          <p:cNvSpPr/>
          <p:nvPr/>
        </p:nvSpPr>
        <p:spPr>
          <a:xfrm>
            <a:off x="896040" y="263340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36D3EB"/>
                </a:solidFill>
                <a:effectLst/>
                <a:uFillTx/>
                <a:latin typeface="Aptos"/>
              </a:rPr>
              <a:t>NEAR TERM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10"/>
          <p:cNvSpPr/>
          <p:nvPr/>
        </p:nvSpPr>
        <p:spPr>
          <a:xfrm>
            <a:off x="896040" y="3063240"/>
            <a:ext cx="269712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• Larger, permissioned pharmacovigilance datasets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• More robust signal triage and review queues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• Richer CTD requirement libraries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Rounded Rectangle 11"/>
          <p:cNvSpPr/>
          <p:nvPr/>
        </p:nvSpPr>
        <p:spPr>
          <a:xfrm>
            <a:off x="4480560" y="2331720"/>
            <a:ext cx="3245760" cy="2605680"/>
          </a:xfrm>
          <a:prstGeom prst="roundRect">
            <a:avLst>
              <a:gd name="adj" fmla="val 6962"/>
            </a:avLst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7" name="TextBox 12"/>
          <p:cNvSpPr/>
          <p:nvPr/>
        </p:nvSpPr>
        <p:spPr>
          <a:xfrm>
            <a:off x="4736520" y="263340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DC9A7"/>
                </a:solidFill>
                <a:effectLst/>
                <a:uFillTx/>
                <a:latin typeface="Aptos"/>
              </a:rPr>
              <a:t>MID TERM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13"/>
          <p:cNvSpPr/>
          <p:nvPr/>
        </p:nvSpPr>
        <p:spPr>
          <a:xfrm>
            <a:off x="4736520" y="3063240"/>
            <a:ext cx="269712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• Evidence traceability and audit-friendly outputs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• Role-based regulatory workflows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• Integration with enterprise document systems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Rounded Rectangle 14"/>
          <p:cNvSpPr/>
          <p:nvPr/>
        </p:nvSpPr>
        <p:spPr>
          <a:xfrm>
            <a:off x="8321040" y="2331720"/>
            <a:ext cx="3245760" cy="2605680"/>
          </a:xfrm>
          <a:prstGeom prst="roundRect">
            <a:avLst>
              <a:gd name="adj" fmla="val 7404"/>
            </a:avLst>
          </a:prstGeom>
          <a:solidFill>
            <a:srgbClr val="17273F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0" name="TextBox 15"/>
          <p:cNvSpPr/>
          <p:nvPr/>
        </p:nvSpPr>
        <p:spPr>
          <a:xfrm>
            <a:off x="8577000" y="263340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4BE4A"/>
                </a:solidFill>
                <a:effectLst/>
                <a:uFillTx/>
                <a:latin typeface="Aptos"/>
              </a:rPr>
              <a:t>LONG TERM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Box 16"/>
          <p:cNvSpPr/>
          <p:nvPr/>
        </p:nvSpPr>
        <p:spPr>
          <a:xfrm>
            <a:off x="8577000" y="3063240"/>
            <a:ext cx="269712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• Continuous safety surveillance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• Submission lifecycle intelligence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100" b="0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• Human-guided AI for regulated decisions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Rounded Rectangle 17"/>
          <p:cNvSpPr/>
          <p:nvPr/>
        </p:nvSpPr>
        <p:spPr>
          <a:xfrm>
            <a:off x="1234440" y="5285160"/>
            <a:ext cx="9738000" cy="658080"/>
          </a:xfrm>
          <a:prstGeom prst="roundRect">
            <a:avLst>
              <a:gd name="adj" fmla="val 16667"/>
            </a:avLst>
          </a:prstGeom>
          <a:solidFill>
            <a:srgbClr val="1D304C"/>
          </a:solidFill>
          <a:ln w="12700">
            <a:solidFill>
              <a:srgbClr val="35496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3" name="TextBox 18"/>
          <p:cNvSpPr/>
          <p:nvPr/>
        </p:nvSpPr>
        <p:spPr>
          <a:xfrm>
            <a:off x="1417320" y="5468040"/>
            <a:ext cx="9372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5F8FC"/>
                </a:solidFill>
                <a:effectLst/>
                <a:uFillTx/>
                <a:latin typeface="Aptos"/>
              </a:rPr>
              <a:t>Vision: move from “searching through information” to “knowing what deserves expert attention next.”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Box 19"/>
          <p:cNvSpPr/>
          <p:nvPr/>
        </p:nvSpPr>
        <p:spPr>
          <a:xfrm>
            <a:off x="502920" y="645552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Team PharmaNex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20"/>
          <p:cNvSpPr/>
          <p:nvPr/>
        </p:nvSpPr>
        <p:spPr>
          <a:xfrm>
            <a:off x="11201400" y="6455520"/>
            <a:ext cx="456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12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Rectangle 21"/>
          <p:cNvSpPr/>
          <p:nvPr/>
        </p:nvSpPr>
        <p:spPr>
          <a:xfrm>
            <a:off x="411480" y="100440"/>
            <a:ext cx="2194200" cy="383760"/>
          </a:xfrm>
          <a:prstGeom prst="rect">
            <a:avLst/>
          </a:prstGeom>
          <a:solidFill>
            <a:srgbClr val="0A1220"/>
          </a:solidFill>
          <a:ln w="12700">
            <a:solidFill>
              <a:srgbClr val="0A122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7" name="TextBox 22"/>
          <p:cNvSpPr/>
          <p:nvPr/>
        </p:nvSpPr>
        <p:spPr>
          <a:xfrm>
            <a:off x="502920" y="15552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9B8CC"/>
                </a:solidFill>
                <a:effectLst/>
                <a:uFillTx/>
                <a:latin typeface="Aptos"/>
              </a:rPr>
              <a:t>PharmaGuard AI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LibreOffice/26.2.6.3$Linux_X86_64 LibreOffice_project/620$Build-3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Team PharmaNex</dc:creator>
  <dc:description>generated using python-pptx</dc:description>
  <cp:keywords>PharmaGuard AI PharmaNex IBM Bob pharmacovigilance CTD ICH M4 PRR ROR</cp:keywords>
  <dc:language>en-US</dc:language>
  <cp:lastModifiedBy/>
  <dcterms:modified xsi:type="dcterms:W3CDTF">2026-09-15T18:47:14Z</dcterms:modified>
  <cp:revision>2</cp:revision>
  <dc:subject>Drug Safety Signal Detection &amp; Regulatory Submission Readiness</dc:subject>
  <dc:title>PharmaGuard AI — IBM BoB AI Innovation Hackathon 2026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